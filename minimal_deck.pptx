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COSC 81/281  · 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1A1A1A"/>
                </a:solidFill>
                <a:latin typeface="Calibri"/>
              </a:rPr>
              <a:t>Diffusion-Guided
Frontier Exploration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206240"/>
            <a:ext cx="2011680" cy="73152"/>
          </a:xfrm>
          <a:prstGeom prst="rect">
            <a:avLst/>
          </a:prstGeom>
          <a:solidFill>
            <a:srgbClr val="1F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555555"/>
                </a:solidFill>
                <a:latin typeface="Calibri"/>
              </a:rPr>
              <a:t>A learned prior of building layouts as a robot's exploration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Moin Mattar  ·  June 1,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AI helped me in formatting and writing (HTML/CSS/LaTeX), as well as explained concepts.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1615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Project Goal  +  Hypothesis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6B47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6858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Robot dropped at the door of an unknown building, only 2D lidar.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Input: partial occupancy grid.  Output: next frontier to drive to.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Classical scorer is </a:t>
            </a:r>
            <a:r>
              <a:rPr sz="1400" b="1">
                <a:solidFill>
                  <a:srgbClr val="1A1A1A"/>
                </a:solidFill>
                <a:latin typeface="Calibri"/>
              </a:rPr>
              <a:t>memoryless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throws away building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6B47"/>
                </a:solidFill>
                <a:latin typeface="Calibri"/>
              </a:rPr>
              <a:t>Hypothesis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389120"/>
            <a:ext cx="73152" cy="1828800"/>
          </a:xfrm>
          <a:prstGeom prst="rect">
            <a:avLst/>
          </a:prstGeom>
          <a:solidFill>
            <a:srgbClr val="1F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6766560" cy="1828800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>
                <a:solidFill>
                  <a:srgbClr val="1A1A1A"/>
                </a:solidFill>
                <a:latin typeface="Calibri"/>
              </a:rPr>
              <a:t>A learned generative prior helps </a:t>
            </a:r>
            <a:r>
              <a:rPr sz="1500" i="1">
                <a:solidFill>
                  <a:srgbClr val="1A1A1A"/>
                </a:solidFill>
                <a:latin typeface="Calibri"/>
              </a:rPr>
              <a:t>only when </a:t>
            </a:r>
            <a:r>
              <a:rPr sz="1500" b="1">
                <a:solidFill>
                  <a:srgbClr val="1A1A1A"/>
                </a:solidFill>
                <a:latin typeface="Calibri"/>
              </a:rPr>
              <a:t>(1) training distribution matches deployment, (2) the step budget is tight, and (3) inference is fast enough to drive.</a:t>
            </a:r>
          </a:p>
        </p:txBody>
      </p:sp>
      <p:pic>
        <p:nvPicPr>
          <p:cNvPr id="10" name="Picture 9" descr="15_behind_mind_map26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1600"/>
            <a:ext cx="3931920" cy="4937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51615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Approach — End-to-End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697480" cy="4206240"/>
          </a:xfrm>
          <a:prstGeom prst="roundRect">
            <a:avLst>
              <a:gd name="adj" fmla="val 5000"/>
            </a:avLst>
          </a:prstGeom>
          <a:solidFill>
            <a:srgbClr val="F4F7F3"/>
          </a:solidFill>
          <a:ln w="19050">
            <a:solidFill>
              <a:srgbClr val="1F6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2697480" cy="91440"/>
          </a:xfrm>
          <a:prstGeom prst="rect">
            <a:avLst/>
          </a:prstGeom>
          <a:solidFill>
            <a:srgbClr val="1F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F6B47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2240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HouseExpo: 35k floor plans → 2.66M (partial, hidden) pairs after augmentation.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37360"/>
            <a:ext cx="2697480" cy="4206240"/>
          </a:xfrm>
          <a:prstGeom prst="roundRect">
            <a:avLst>
              <a:gd name="adj" fmla="val 5000"/>
            </a:avLst>
          </a:prstGeom>
          <a:solidFill>
            <a:srgbClr val="F4F7F3"/>
          </a:solidFill>
          <a:ln w="19050">
            <a:solidFill>
              <a:srgbClr val="D97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697480" cy="91440"/>
          </a:xfrm>
          <a:prstGeom prst="rect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0574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D97606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0175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40480"/>
            <a:ext cx="2240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Conditional U-Net, 4.16M params. DDPM, MSE on noise. 29 epochs on T4 GPU.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737360"/>
            <a:ext cx="2697480" cy="4206240"/>
          </a:xfrm>
          <a:prstGeom prst="roundRect">
            <a:avLst>
              <a:gd name="adj" fmla="val 5000"/>
            </a:avLst>
          </a:prstGeom>
          <a:solidFill>
            <a:srgbClr val="F4F7F3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737360"/>
            <a:ext cx="269748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0574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D4A017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0175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840480"/>
            <a:ext cx="2240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K=8 DDIM completions. score = E[gain] + λ·Std[gain] − β·dist.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737360"/>
            <a:ext cx="2697480" cy="4206240"/>
          </a:xfrm>
          <a:prstGeom prst="roundRect">
            <a:avLst>
              <a:gd name="adj" fmla="val 5000"/>
            </a:avLst>
          </a:prstGeom>
          <a:solidFill>
            <a:srgbClr val="F4F7F3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737360"/>
            <a:ext cx="2697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0574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0175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840480"/>
            <a:ext cx="2240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ROS 2 node publishes /best_frontier. Stage maze via pre-computed waypoints.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1615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DEMO — the loop running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ploration_diffus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Calibri"/>
              </a:rPr>
              <a:t>Partial map (with frontiers) → diffusion's prediction → ground truth (robot doesn't see) → coverage growing.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51615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DEMO — diffusion vs baseline, same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7_side_by_side_dem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Calibri"/>
              </a:rPr>
              <a:t>Top: diffusion-guided.  Bottom: heuristic baseline. Same map, same start. Diffusion commits to the unseen wing one or two steps earlier.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51615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Results — where do the wins come from?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4baselin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46720" y="1645920"/>
            <a:ext cx="73152" cy="1371600"/>
          </a:xfrm>
          <a:prstGeom prst="rect">
            <a:avLst/>
          </a:prstGeom>
          <a:solidFill>
            <a:srgbClr val="1F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6916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6B47"/>
                </a:solidFill>
                <a:latin typeface="Calibri"/>
              </a:rPr>
              <a:t>+3.5pp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24028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Diffusion vs heuristic at step 4.
The learned prior on 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320040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2461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563EB"/>
                </a:solidFill>
                <a:latin typeface="Calibri"/>
              </a:rPr>
              <a:t>+17.5pp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79476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Info-gain vs nearest.
Info-gain is doing most of the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4754880"/>
            <a:ext cx="73152" cy="1371600"/>
          </a:xfrm>
          <a:prstGeom prst="rect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8006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97606"/>
                </a:solidFill>
                <a:latin typeface="Calibri"/>
              </a:rPr>
              <a:t>~0pp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34924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Distance term contribution.
Decorative on HouseExpo.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51615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When it fails  +  what realtime would buy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in_vs_ood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66928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846320"/>
            <a:ext cx="5669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OOD kill. Warehouse-trained model on residential maps: advantage drops from +3.5pp to −0.1pp. The prior is doing real structural work, not averaging.</a:t>
            </a:r>
          </a:p>
        </p:txBody>
      </p:sp>
      <p:pic>
        <p:nvPicPr>
          <p:cNvPr id="7" name="Picture 6" descr="11_2x2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39496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84632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Realtime upper bound. K=4 / DDIM=10 = ~500 ms on T4. Sampling every 3 cells lifts advantage to +10.0pp. Distillation is the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1615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Hardships  +  Honest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B91C1C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Docker QEMU on Apple Silicon</a:t>
            </a:r>
            <a:r>
              <a:rPr sz="1700" b="0">
                <a:solidFill>
                  <a:srgbClr val="1A1A1A"/>
                </a:solidFill>
                <a:latin typeface="Calibri"/>
              </a:rPr>
              <a:t> too slow for live diffusion in Stage — pre-computed waypoints instead.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B91C1C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Asymptotic catch-up</a:t>
            </a:r>
            <a:r>
              <a:rPr sz="1700" b="0">
                <a:solidFill>
                  <a:srgbClr val="1A1A1A"/>
                </a:solidFill>
                <a:latin typeface="Calibri"/>
              </a:rPr>
              <a:t> — baseline catches up by step 20.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B91C1C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2 / 30 hard failures</a:t>
            </a:r>
            <a:r>
              <a:rPr sz="1700" b="0">
                <a:solidFill>
                  <a:srgbClr val="1A1A1A"/>
                </a:solidFill>
                <a:latin typeface="Calibri"/>
              </a:rPr>
              <a:t> — K-sample disagreement could flag these.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B91C1C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Live hardware deployment</a:t>
            </a:r>
            <a:r>
              <a:rPr sz="1700" b="0">
                <a:solidFill>
                  <a:srgbClr val="1A1A1A"/>
                </a:solidFill>
                <a:latin typeface="Calibri"/>
              </a:rPr>
              <a:t> blocked by latency on Apple Silicon emulation.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B91C1C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Mismatched priors</a:t>
            </a:r>
            <a:r>
              <a:rPr sz="1700" b="0">
                <a:solidFill>
                  <a:srgbClr val="1A1A1A"/>
                </a:solidFill>
                <a:latin typeface="Calibri"/>
              </a:rPr>
              <a:t> give zero help — the OOD ablation confirms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F6B47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Distillation</a:t>
            </a:r>
            <a:r>
              <a:rPr sz="1800" b="0">
                <a:solidFill>
                  <a:srgbClr val="1A1A1A"/>
                </a:solidFill>
                <a:latin typeface="Calibri"/>
              </a:rPr>
              <a:t> of the U-Net to Jetson for sub-second inference on a real robot.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F6B47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Richer training domains</a:t>
            </a:r>
            <a:r>
              <a:rPr sz="1800" b="0">
                <a:solidFill>
                  <a:srgbClr val="1A1A1A"/>
                </a:solidFill>
                <a:latin typeface="Calibri"/>
              </a:rPr>
              <a:t> — Gibson, Matterport, BIM — for cross-environment generalisation.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F6B47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K-sample disagreement</a:t>
            </a:r>
            <a:r>
              <a:rPr sz="1800" b="0">
                <a:solidFill>
                  <a:srgbClr val="1A1A1A"/>
                </a:solidFill>
                <a:latin typeface="Calibri"/>
              </a:rPr>
              <a:t> as an "I don't know" flag — fall back to heuristic on hard maps.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F6B47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Live ROSbot deployment</a:t>
            </a:r>
            <a:r>
              <a:rPr sz="1800" b="0">
                <a:solidFill>
                  <a:srgbClr val="1A1A1A"/>
                </a:solidFill>
                <a:latin typeface="Calibri"/>
              </a:rPr>
              <a:t> in a matched-distribution building.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alibri"/>
              </a:rPr>
              <a:t>Thanks for your attention.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0" i="1">
                <a:solidFill>
                  <a:srgbClr val="1F6B47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Moin Mattar  ·  COSC 81/281  ·  June 1,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AI helped me in formatting and writing (HTML/CSS/LaTeX), as well as explained concepts.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51615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