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6FB6FF"/>
                </a:solidFill>
                <a:latin typeface="Inter"/>
              </a:rPr>
              <a:t>COSC 81/281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C576FF"/>
                </a:solidFill>
                <a:latin typeface="Inter"/>
              </a:rPr>
              <a:t>Diffusion-Guided
Frontier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8D97A8"/>
                </a:solidFill>
                <a:latin typeface="Inter"/>
              </a:rPr>
              <a:t>Can a generative model of buildings help a robot decide where to
drive next, and just as importantly, when can it not?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ECF3"/>
                </a:solidFill>
                <a:latin typeface="Inter"/>
              </a:rPr>
              <a:t>Moin Mattar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8D97A8"/>
                </a:solidFill>
                <a:latin typeface="Inter"/>
              </a:rPr>
              <a:t>Dartmouth COSC 81/281  --  Spring 2026  --  June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AI helped me in formatting and writing (HTML/CSS), as well as explained concepts.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D97A8"/>
                </a:solidFill>
                <a:latin typeface="Inter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6FB6FF"/>
                </a:solidFill>
                <a:latin typeface="Inter"/>
              </a:rPr>
              <a:t>THE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E7ECF3"/>
                </a:solidFill>
                <a:latin typeface="Inter"/>
              </a:rPr>
              <a:t>A robot at the door of a building it has never seen.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8D97A8"/>
                </a:solidFill>
                <a:latin typeface="Inter"/>
              </a:rPr>
              <a:t>2D lidar. After each ping, a slightly bigger map.
The question is always the same: which frontier do I drive to next?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B86C"/>
                </a:solidFill>
              </a:rPr>
              <a:t>■  </a:t>
            </a:r>
            <a:r>
              <a:rPr sz="1700">
                <a:solidFill>
                  <a:srgbClr val="E7ECF3"/>
                </a:solidFill>
                <a:latin typeface="Inter"/>
              </a:rPr>
              <a:t>Classical baseline: score each frontier by unknown cells nearby minus a distance penalty. Memoryless.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FB86C"/>
                </a:solidFill>
              </a:rPr>
              <a:t>■  </a:t>
            </a:r>
            <a:r>
              <a:rPr sz="1700">
                <a:solidFill>
                  <a:srgbClr val="E7ECF3"/>
                </a:solidFill>
                <a:latin typeface="Inter"/>
              </a:rPr>
              <a:t>What it throws away: walls run straight, hallways connect rooms, doors cluster. Buildings have structure.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FB86C"/>
                </a:solidFill>
              </a:rPr>
              <a:t>■  </a:t>
            </a:r>
            <a:r>
              <a:rPr sz="1700">
                <a:solidFill>
                  <a:srgbClr val="E7ECF3"/>
                </a:solidFill>
                <a:latin typeface="Inter"/>
              </a:rPr>
              <a:t>Our hypothesis: a model trained on real floor plans can imagine plausible completions and score frontiers under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Moin Mattar  --  Diffusion-Guided Frontier 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D97A8"/>
                </a:solidFill>
                <a:latin typeface="Inter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6FB6FF"/>
                </a:solidFill>
                <a:latin typeface="Inter"/>
              </a:rPr>
              <a:t>ACT 1 -- 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7ECF3"/>
                </a:solidFill>
                <a:latin typeface="Inter"/>
              </a:rPr>
              <a:t>The data: HouseExpo, 35k floor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8D97A8"/>
                </a:solidFill>
                <a:latin typeface="Inter"/>
              </a:rPr>
              <a:t>For each plan I generate a partial view from a random lidar scan and pair it with the hidden remainder.
Augmentations: 4 rotations, horizontal and vertical flips. Final training set: 2.66M (partial, hidden) pairs.</a:t>
            </a:r>
          </a:p>
        </p:txBody>
      </p:sp>
      <p:pic>
        <p:nvPicPr>
          <p:cNvPr id="6" name="Picture 5" descr="01_sample_grid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0"/>
            <a:ext cx="1106424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D97A8"/>
                </a:solidFill>
                <a:latin typeface="Inter"/>
              </a:rPr>
              <a:t>Per pair, left to right: ground truth occupancy grid, partial map (input), hidden remainder (target).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Moin Mattar  --  Diffusion-Guided Frontier Exploration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D97A8"/>
                </a:solidFill>
                <a:latin typeface="Inter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E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C576FF"/>
                </a:solidFill>
                <a:latin typeface="Inter"/>
              </a:rPr>
              <a:t>ACT 1 -- 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7ECF3"/>
                </a:solidFill>
                <a:latin typeface="Inter"/>
              </a:rPr>
              <a:t>The model: conditional U-Net, 4.16M params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64008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C576FF"/>
                </a:solidFill>
              </a:rPr>
              <a:t>■  </a:t>
            </a:r>
            <a:r>
              <a:rPr sz="1500">
                <a:solidFill>
                  <a:srgbClr val="E7ECF3"/>
                </a:solidFill>
                <a:latin typeface="Inter"/>
              </a:rPr>
              <a:t>Architecture: conditional U-Net with sinusoidal time embedding, channel mults (1, 2, 4, 4), base 32 channels.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C576FF"/>
                </a:solidFill>
              </a:rPr>
              <a:t>■  </a:t>
            </a:r>
            <a:r>
              <a:rPr sz="1500">
                <a:solidFill>
                  <a:srgbClr val="E7ECF3"/>
                </a:solidFill>
                <a:latin typeface="Inter"/>
              </a:rPr>
              <a:t>Training objective: DDPM with MSE loss on the noise (Ho et al. 2020). T = 1000 diffusion timesteps.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C576FF"/>
                </a:solidFill>
              </a:rPr>
              <a:t>■  </a:t>
            </a:r>
            <a:r>
              <a:rPr sz="1500">
                <a:solidFill>
                  <a:srgbClr val="E7ECF3"/>
                </a:solidFill>
                <a:latin typeface="Inter"/>
              </a:rPr>
              <a:t>Sampling: DDIM with 30 steps for inference. K = 8 completions per partial map.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C576FF"/>
                </a:solidFill>
              </a:rPr>
              <a:t>■  </a:t>
            </a:r>
            <a:r>
              <a:rPr sz="1500">
                <a:solidFill>
                  <a:srgbClr val="E7ECF3"/>
                </a:solidFill>
                <a:latin typeface="Inter"/>
              </a:rPr>
              <a:t>Hardware: single T4 GPU, batch size 32, AdamW.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19456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161B26"/>
          </a:solidFill>
          <a:ln>
            <a:solidFill>
              <a:srgbClr val="2A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l"/>
            <a:r>
              <a:rPr sz="2800" b="1">
                <a:solidFill>
                  <a:srgbClr val="C576FF"/>
                </a:solidFill>
                <a:latin typeface="Inter"/>
              </a:rPr>
              <a:t>4.16M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8D97A8"/>
                </a:solidFill>
                <a:latin typeface="Inter"/>
              </a:rPr>
              <a:t>PARAMETERS IN THE U-NET TRUNK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47472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161B26"/>
          </a:solidFill>
          <a:ln>
            <a:solidFill>
              <a:srgbClr val="2A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l"/>
            <a:r>
              <a:rPr sz="2800" b="1">
                <a:solidFill>
                  <a:srgbClr val="6FB6FF"/>
                </a:solidFill>
                <a:latin typeface="Inter"/>
              </a:rPr>
              <a:t>29 epochs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8D97A8"/>
                </a:solidFill>
                <a:latin typeface="Inter"/>
              </a:rPr>
              <a:t>TRAINED ON 2.66M PAIRS AT 256x256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75488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161B26"/>
          </a:solidFill>
          <a:ln>
            <a:solidFill>
              <a:srgbClr val="2A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l"/>
            <a:r>
              <a:rPr sz="2800" b="1">
                <a:solidFill>
                  <a:srgbClr val="7EE787"/>
                </a:solidFill>
                <a:latin typeface="Inter"/>
              </a:rPr>
              <a:t>~2 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8D97A8"/>
                </a:solidFill>
                <a:latin typeface="Inter"/>
              </a:rPr>
              <a:t>PER K=8 COMPLETION ON T4 WITH DDIM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Moin Mattar  --  Diffusion-Guided Frontier Exploration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D97A8"/>
                </a:solidFill>
                <a:latin typeface="Inter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6FB6FF"/>
                </a:solidFill>
                <a:latin typeface="Inter"/>
              </a:rPr>
              <a:t>ACT 1 -- 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7ECF3"/>
                </a:solidFill>
                <a:latin typeface="Inter"/>
              </a:rPr>
              <a:t>Training converged from 0.033 to 0.0007</a:t>
            </a:r>
          </a:p>
        </p:txBody>
      </p:sp>
      <p:pic>
        <p:nvPicPr>
          <p:cNvPr id="5" name="Picture 4" descr="fi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1069848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77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8D97A8"/>
                </a:solidFill>
                <a:latin typeface="Inter"/>
              </a:rPr>
              <a:t>Left: MSE on noise dropped two orders of magnitude. Right: validation IoU averaged 0.66, best epoch 0.77.
The model is learning building structure, not memorising the training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Moin Mattar  --  Diffusion-Guided Frontier 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D97A8"/>
                </a:solidFill>
                <a:latin typeface="Inter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E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C576FF"/>
                </a:solidFill>
                <a:latin typeface="Inter"/>
              </a:rPr>
              <a:t>ACT 1 -- 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7ECF3"/>
                </a:solidFill>
                <a:latin typeface="Inter"/>
              </a:rPr>
              <a:t>Sample quality across epochs: the model wakes up</a:t>
            </a:r>
          </a:p>
        </p:txBody>
      </p:sp>
      <p:pic>
        <p:nvPicPr>
          <p:cNvPr id="5" name="Picture 4" descr="06_training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77440"/>
            <a:ext cx="114300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23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8D97A8"/>
                </a:solidFill>
                <a:latin typeface="Inter"/>
              </a:rPr>
              <a:t>Same partial inputs, different checkpoints. Epoch 5: blurry room-sized blobs. Epoch 10: walls emerge.
By epoch 20 the predictions have crisp doorways and corridors. I used epoch 20 for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Moin Mattar  --  Diffusion-Guided Frontier 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D97A8"/>
                </a:solidFill>
                <a:latin typeface="Inter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6FB6FF"/>
                </a:solidFill>
                <a:latin typeface="Inter"/>
              </a:rPr>
              <a:t>ACT 1 -- 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7ECF3"/>
                </a:solidFill>
                <a:latin typeface="Inter"/>
              </a:rPr>
              <a:t>K = 8 imagined buildings. Variance is the signal.</a:t>
            </a:r>
          </a:p>
        </p:txBody>
      </p:sp>
      <p:pic>
        <p:nvPicPr>
          <p:cNvPr id="5" name="Picture 4" descr="03_sample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0"/>
            <a:ext cx="114300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77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8D97A8"/>
                </a:solidFill>
                <a:latin typeface="Inter"/>
              </a:rPr>
              <a:t>Each row is one partial map; columns show eight DDIM samples from the same input. Where the partial map
already disambiguates structure, samples agree; where it does not, they diverge. That disagreement is our UCB bonus.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Moin Mattar  --  Diffusion-Guided Frontier 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D97A8"/>
                </a:solidFill>
                <a:latin typeface="Inter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E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C576FF"/>
                </a:solidFill>
                <a:latin typeface="Inter"/>
              </a:rPr>
              <a:t>ACT 1 -- 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7ECF3"/>
                </a:solidFill>
                <a:latin typeface="Inter"/>
              </a:rPr>
              <a:t>The pipeline: partial map in, argmax frontier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D97A8"/>
                </a:solidFill>
                <a:latin typeface="Inter"/>
              </a:rPr>
              <a:t>Same scoring loop as a classical frontier explorer. The only difference: frontiers are evaluated
against K=8 imagined completions, not the raw partial 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29184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solidFill>
              <a:srgbClr val="2A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/>
            <a:r>
              <a:rPr sz="1000" b="1">
                <a:solidFill>
                  <a:srgbClr val="6FB6FF"/>
                </a:solidFill>
              </a:rPr>
              <a:t>STEP 1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E7ECF3"/>
                </a:solidFill>
              </a:rPr>
              <a:t>Partial map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8D97A8"/>
                </a:solidFill>
              </a:rPr>
              <a:t>Robot's current occupancy grid. Free / unknown / walls. Frontiers on the boundary.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329184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solidFill>
              <a:srgbClr val="2A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/>
            <a:r>
              <a:rPr sz="1000" b="1">
                <a:solidFill>
                  <a:srgbClr val="C576FF"/>
                </a:solidFill>
              </a:rPr>
              <a:t>STEP 2 -- DIFFUSION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E7ECF3"/>
                </a:solidFill>
              </a:rPr>
              <a:t>K = 8 completions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8D97A8"/>
                </a:solidFill>
              </a:rPr>
              <a:t>Conditional U-Net, 4M params. One batched DDIM pass samples K plausible buildings.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29184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solidFill>
              <a:srgbClr val="2A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/>
            <a:r>
              <a:rPr sz="1000" b="1">
                <a:solidFill>
                  <a:srgbClr val="E7ECF3"/>
                </a:solidFill>
              </a:rPr>
              <a:t>STEP 3 -- SCORE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E7ECF3"/>
                </a:solidFill>
              </a:rPr>
              <a:t>E[gain] + UCB - dist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8D97A8"/>
                </a:solidFill>
              </a:rPr>
              <a:t>Mean lidar gain across K, plus standard deviation, minus travel distance.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329184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solidFill>
              <a:srgbClr val="2A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/>
            <a:r>
              <a:rPr sz="1000" b="1">
                <a:solidFill>
                  <a:srgbClr val="6FB6FF"/>
                </a:solidFill>
              </a:rPr>
              <a:t>STEP 4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E7ECF3"/>
                </a:solidFill>
              </a:rPr>
              <a:t>Drive argmax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8D97A8"/>
                </a:solidFill>
              </a:rPr>
              <a:t>Pick the frontier with the highest score. Move. Sense. Repeat.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Moin Mattar  --  Diffusion-Guided Frontier Exploration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D97A8"/>
                </a:solidFill>
                <a:latin typeface="Inter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7B72"/>
                </a:solidFill>
                <a:latin typeface="Inter"/>
              </a:rPr>
              <a:t>ACT 2 -- WHAT THE PROF ASKED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7ECF3"/>
                </a:solidFill>
                <a:latin typeface="Inter"/>
              </a:rPr>
              <a:t>What I showed him -- and the four asks that followed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7ECF3"/>
                </a:solidFill>
                <a:latin typeface="Inter"/>
              </a:rPr>
              <a:t>What I showed at the check-in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54864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FB86C"/>
                </a:solidFill>
              </a:rPr>
              <a:t>■  </a:t>
            </a:r>
            <a:r>
              <a:rPr sz="1400">
                <a:solidFill>
                  <a:srgbClr val="E7ECF3"/>
                </a:solidFill>
                <a:latin typeface="Inter"/>
              </a:rPr>
              <a:t>The data, the U-Net, the loss curve, K=8 sampling.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FB86C"/>
                </a:solidFill>
              </a:rPr>
              <a:t>■  </a:t>
            </a:r>
            <a:r>
              <a:rPr sz="1400">
                <a:solidFill>
                  <a:srgbClr val="E7ECF3"/>
                </a:solidFill>
                <a:latin typeface="Inter"/>
              </a:rPr>
              <a:t>An early result on one map: 'baseline is good. Diffusion is maybe better at the beginning. But the baseline mostly catches up.'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FB86C"/>
                </a:solidFill>
              </a:rPr>
              <a:t>■  </a:t>
            </a:r>
            <a:r>
              <a:rPr sz="1400">
                <a:solidFill>
                  <a:srgbClr val="E7ECF3"/>
                </a:solidFill>
                <a:latin typeface="Inter"/>
              </a:rPr>
              <a:t>Honest framing: the prior helps in the early-budget regime; it does not beat the heuristic asymptotically.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576FF"/>
                </a:solidFill>
                <a:latin typeface="Inter"/>
              </a:rPr>
              <a:t>His four 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4864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C576FF"/>
                </a:solidFill>
              </a:rPr>
              <a:t>■  </a:t>
            </a:r>
            <a:r>
              <a:rPr sz="1400">
                <a:solidFill>
                  <a:srgbClr val="E7ECF3"/>
                </a:solidFill>
                <a:latin typeface="Inter"/>
              </a:rPr>
              <a:t>1. Compare against four scorers: nearest, info-gain only, info-gain + distance, ours.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576FF"/>
                </a:solidFill>
              </a:rPr>
              <a:t>■  </a:t>
            </a:r>
            <a:r>
              <a:rPr sz="1400">
                <a:solidFill>
                  <a:srgbClr val="E7ECF3"/>
                </a:solidFill>
                <a:latin typeface="Inter"/>
              </a:rPr>
              <a:t>2. Show it running in a real simulator. Stage (used in PA3) is acceptable.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576FF"/>
                </a:solidFill>
              </a:rPr>
              <a:t>■  </a:t>
            </a:r>
            <a:r>
              <a:rPr sz="1400">
                <a:solidFill>
                  <a:srgbClr val="E7ECF3"/>
                </a:solidFill>
                <a:latin typeface="Inter"/>
              </a:rPr>
              <a:t>3. Report actual inference timing.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C576FF"/>
                </a:solidFill>
              </a:rPr>
              <a:t>■  </a:t>
            </a:r>
            <a:r>
              <a:rPr sz="1400">
                <a:solidFill>
                  <a:srgbClr val="E7ECF3"/>
                </a:solidFill>
                <a:latin typeface="Inter"/>
              </a:rPr>
              <a:t>4. Describe limitations honestly in the 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D97A8"/>
                </a:solidFill>
                <a:latin typeface="Inter"/>
              </a:rPr>
              <a:t>The remaining slides walk through how I addressed each ask, plus the deeper experiments I added on top.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Moin Mattar  --  Diffusion-Guided Frontier Exploration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D97A8"/>
                </a:solidFill>
                <a:latin typeface="Inter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E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C576FF"/>
                </a:solidFill>
                <a:latin typeface="Inter"/>
              </a:rPr>
              <a:t>HIS ASK #1 -- 4-BASELINE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7ECF3"/>
                </a:solidFill>
                <a:latin typeface="Inter"/>
              </a:rPr>
              <a:t>Four scorers, same 30 maps. Clean decomposition.</a:t>
            </a:r>
          </a:p>
        </p:txBody>
      </p:sp>
      <p:pic>
        <p:nvPicPr>
          <p:cNvPr id="5" name="Picture 4" descr="12_4baselin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03120"/>
            <a:ext cx="65836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03504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N=30 HouseExpo, lidar=70, identical seeds. Bands = mean +/- 1 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210312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161B26"/>
          </a:solidFill>
          <a:ln>
            <a:solidFill>
              <a:srgbClr val="2A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l"/>
            <a:r>
              <a:rPr sz="2800" b="1">
                <a:solidFill>
                  <a:srgbClr val="7EE787"/>
                </a:solidFill>
                <a:latin typeface="Inter"/>
              </a:rPr>
              <a:t>+3.5pp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8D97A8"/>
                </a:solidFill>
                <a:latin typeface="Inter"/>
              </a:rPr>
              <a:t>DIFFUSION VS HEURISTIC AT STEP 4. THE LEARNED PRIOR ON 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338328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161B26"/>
          </a:solidFill>
          <a:ln>
            <a:solidFill>
              <a:srgbClr val="2A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l"/>
            <a:r>
              <a:rPr sz="2800" b="1">
                <a:solidFill>
                  <a:srgbClr val="6FB6FF"/>
                </a:solidFill>
                <a:latin typeface="Inter"/>
              </a:rPr>
              <a:t>+17.5pp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8D97A8"/>
                </a:solidFill>
                <a:latin typeface="Inter"/>
              </a:rPr>
              <a:t>INFO-GAIN VS NEAREST. INFO-GAIN IS DOING MOST OF THE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466344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161B26"/>
          </a:solidFill>
          <a:ln>
            <a:solidFill>
              <a:srgbClr val="2A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l"/>
            <a:r>
              <a:rPr sz="2800" b="1">
                <a:solidFill>
                  <a:srgbClr val="E7ECF3"/>
                </a:solidFill>
                <a:latin typeface="Inter"/>
              </a:rPr>
              <a:t>~0pp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8D97A8"/>
                </a:solidFill>
                <a:latin typeface="Inter"/>
              </a:rPr>
              <a:t>DISTANCE TERM ON TOP OF INFO-GAIN. DECORATIVE ON HOUSEEXPO.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Moin Mattar  --  Diffusion-Guided Frontier Exploration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D97A8"/>
                </a:solidFill>
                <a:latin typeface="Inter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E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C576FF"/>
                </a:solidFill>
                <a:latin typeface="Inter"/>
              </a:rPr>
              <a:t>HIS ASK #2 -- SHOW IT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7ECF3"/>
                </a:solidFill>
                <a:latin typeface="Inter"/>
              </a:rPr>
              <a:t>World -&gt; observation -&gt; imagination -&gt; pick</a:t>
            </a:r>
          </a:p>
        </p:txBody>
      </p:sp>
      <p:pic>
        <p:nvPicPr>
          <p:cNvPr id="5" name="Picture 4" descr="15_behind_mind_map26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1106424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D97A8"/>
                </a:solidFill>
                <a:latin typeface="Inter"/>
              </a:rPr>
              <a:t>Top: world + robot trail. Middle: partial map + frontier candidates. Bottom: mean of K=4 diffusion samples (the imagined building) with the chosen frontier circled.
On map 2638 the prior carries the robot to 95% coverage at step 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Moin Mattar  --  Diffusion-Guided Frontier 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D97A8"/>
                </a:solidFill>
                <a:latin typeface="Inter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7B72"/>
                </a:solidFill>
                <a:latin typeface="Inter"/>
              </a:rPr>
              <a:t>HIS ASK #4 -- LIMITS +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E7ECF3"/>
                </a:solidFill>
                <a:latin typeface="Inter"/>
              </a:rPr>
              <a:t>When the prior fails, and what realtime would buy</a:t>
            </a:r>
          </a:p>
        </p:txBody>
      </p:sp>
      <p:pic>
        <p:nvPicPr>
          <p:cNvPr id="5" name="Picture 4" descr="07_in_vs_ood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0"/>
            <a:ext cx="576072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394960"/>
            <a:ext cx="5760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OOD ablation. A second U-Net trained on synthetic warehouse layouts, evaluated on the same 30 HouseExpo maps. Step-4 advantage drops from +3.5pp to -0.1pp. The prior is not a generic averaging trick.</a:t>
            </a:r>
          </a:p>
        </p:txBody>
      </p:sp>
      <p:pic>
        <p:nvPicPr>
          <p:cNvPr id="7" name="Picture 6" descr="11_2x2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548640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39496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Realtime upper bound. Re-sampling K=8 every 3 driving cells (what a distilled model could achieve) lifts in-domain advantage to +10.0pp. Prior contributes ~4pp; sampling frequency contributes ~7pp.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576FF"/>
                </a:solidFill>
                <a:latin typeface="Inter"/>
              </a:rPr>
              <a:t>Inference timing on T4: ~2s for K=8 at DDIM=30. K=4 + DDIM=10 measured at ~500ms -- exactly the realtime budget.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D97A8"/>
                </a:solidFill>
                <a:latin typeface="Inter"/>
              </a:rPr>
              <a:t>Moin Mattar  --  Diffusion-Guided Frontier Exploration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D97A8"/>
                </a:solidFill>
                <a:latin typeface="Inter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6FB6FF"/>
                </a:solidFill>
                <a:latin typeface="Inter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7ECF3"/>
                </a:solidFill>
                <a:latin typeface="Inter"/>
              </a:rPr>
              <a:t>Where this is useful, and what is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7EE787"/>
                </a:solidFill>
                <a:latin typeface="Inter"/>
              </a:rPr>
              <a:t>Useful when all three 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54864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7EE787"/>
                </a:solidFill>
              </a:rPr>
              <a:t>■  </a:t>
            </a:r>
            <a:r>
              <a:rPr sz="1300">
                <a:solidFill>
                  <a:srgbClr val="E7ECF3"/>
                </a:solidFill>
                <a:latin typeface="Inter"/>
              </a:rPr>
              <a:t>Deployment environment is structured and known in advance (warehouses, hospitals, office buildings).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7EE787"/>
                </a:solidFill>
              </a:rPr>
              <a:t>■  </a:t>
            </a:r>
            <a:r>
              <a:rPr sz="1300">
                <a:solidFill>
                  <a:srgbClr val="E7ECF3"/>
                </a:solidFill>
                <a:latin typeface="Inter"/>
              </a:rPr>
              <a:t>Robot has a tight step budget (battery, time, danger window). The advantage concentrates in steps 2-5.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7EE787"/>
                </a:solidFill>
              </a:rPr>
              <a:t>■  </a:t>
            </a:r>
            <a:r>
              <a:rPr sz="1300">
                <a:solidFill>
                  <a:srgbClr val="E7ECF3"/>
                </a:solidFill>
                <a:latin typeface="Inter"/>
              </a:rPr>
              <a:t>Inference is fast enough to drive (sub-second). Latency measurements show this is achievable on T4.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7B72"/>
                </a:solidFill>
                <a:latin typeface="Inter"/>
              </a:rPr>
              <a:t>Honest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51760"/>
            <a:ext cx="54864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FF7B72"/>
                </a:solidFill>
              </a:rPr>
              <a:t>■  </a:t>
            </a:r>
            <a:r>
              <a:rPr sz="1300">
                <a:solidFill>
                  <a:srgbClr val="E7ECF3"/>
                </a:solidFill>
                <a:latin typeface="Inter"/>
              </a:rPr>
              <a:t>Asymptotic coverage. The baseline catches up by step 20.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FF7B72"/>
                </a:solidFill>
              </a:rPr>
              <a:t>■  </a:t>
            </a:r>
            <a:r>
              <a:rPr sz="1300">
                <a:solidFill>
                  <a:srgbClr val="E7ECF3"/>
                </a:solidFill>
                <a:latin typeface="Inter"/>
              </a:rPr>
              <a:t>OOD priors are useless. Training distribution must match deployment.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FF7B72"/>
                </a:solidFill>
              </a:rPr>
              <a:t>■  </a:t>
            </a:r>
            <a:r>
              <a:rPr sz="1300">
                <a:solidFill>
                  <a:srgbClr val="E7ECF3"/>
                </a:solidFill>
                <a:latin typeface="Inter"/>
              </a:rPr>
              <a:t>2/30 hard failures. K-sample disagreement could flag these and fall back to baseline.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FF7B72"/>
                </a:solidFill>
              </a:rPr>
              <a:t>■  </a:t>
            </a:r>
            <a:r>
              <a:rPr sz="1300">
                <a:solidFill>
                  <a:srgbClr val="E7ECF3"/>
                </a:solidFill>
                <a:latin typeface="Inter"/>
              </a:rPr>
              <a:t>Live hardware deployment. Stage integration uses pre-computed waypoints; Docker QEMU is 50x too slow for live diffusion.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7ECF3"/>
                </a:solidFill>
                <a:latin typeface="Inter"/>
              </a:rPr>
              <a:t>Thank you.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D97A8"/>
                </a:solidFill>
                <a:latin typeface="Inter"/>
              </a:rPr>
              <a:t>Moin Mattar  --  AI helped me in formatting and writing (HTML/CSS) and explained concepts.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D97A8"/>
                </a:solidFill>
                <a:latin typeface="Inter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