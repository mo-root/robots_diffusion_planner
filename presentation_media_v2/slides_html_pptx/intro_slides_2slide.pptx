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Calibri"/>
              </a:rPr>
              <a:t>Project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Autonomous mapping of an unknown building, one frontier decision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132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1F6B47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Setup:</a:t>
            </a:r>
            <a:r>
              <a:rPr sz="1500" b="0">
                <a:solidFill>
                  <a:srgbClr val="1A1A1A"/>
                </a:solidFill>
                <a:latin typeface="Calibri"/>
              </a:rPr>
              <a:t> a robot is dropped at the door of a building it has never seen, with only a 2D lidar.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F6B47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Input each step:</a:t>
            </a:r>
            <a:r>
              <a:rPr sz="1500" b="0">
                <a:solidFill>
                  <a:srgbClr val="1A1A1A"/>
                </a:solidFill>
                <a:latin typeface="Calibri"/>
              </a:rPr>
              <a:t> the partial occupancy grid the robot has accumulated so far.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F6B47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Output each step:</a:t>
            </a:r>
            <a:r>
              <a:rPr sz="1500" b="0">
                <a:solidFill>
                  <a:srgbClr val="1A1A1A"/>
                </a:solidFill>
                <a:latin typeface="Calibri"/>
              </a:rPr>
              <a:t> the next frontier to drive to — the boundary between known and unknown.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F6B47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Assumption:</a:t>
            </a:r>
            <a:r>
              <a:rPr sz="1500" b="0">
                <a:solidFill>
                  <a:srgbClr val="1A1A1A"/>
                </a:solidFill>
                <a:latin typeface="Calibri"/>
              </a:rPr>
              <a:t> the deployment environment shares structural distribution with training data (real residential floor plans).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F6B47"/>
                </a:solidFill>
                <a:latin typeface="Calibri"/>
              </a:rPr>
              <a:t>•  </a:t>
            </a:r>
            <a:r>
              <a:rPr sz="1500" b="1">
                <a:solidFill>
                  <a:srgbClr val="1A1A1A"/>
                </a:solidFill>
                <a:latin typeface="Calibri"/>
              </a:rPr>
              <a:t>What's broken with the standard approach:</a:t>
            </a:r>
            <a:r>
              <a:rPr sz="1500" b="0">
                <a:solidFill>
                  <a:srgbClr val="1A1A1A"/>
                </a:solidFill>
                <a:latin typeface="Calibri"/>
              </a:rPr>
              <a:t> classical frontier scoring is memoryless — it picks based on nearby unknown cells minus distance, throwing away the fact that real buildings have walls that run straight, hallways that connect rooms, doors that cluster.</a:t>
            </a:r>
          </a:p>
        </p:txBody>
      </p:sp>
      <p:pic>
        <p:nvPicPr>
          <p:cNvPr id="7" name="Picture 6" descr="slide11_behind_mind_map2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103120"/>
            <a:ext cx="35661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6172200"/>
            <a:ext cx="35661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  <a:latin typeface="Calibri"/>
              </a:rPr>
              <a:t>the structural prior the heuristic ignores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Calibri"/>
              </a:rPr>
              <a:t>Novelty &amp; 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7280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1F6B47"/>
                </a:solidFill>
                <a:latin typeface="Calibri"/>
              </a:rPr>
              <a:t>What's new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406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We treat </a:t>
            </a:r>
            <a:r>
              <a:rPr sz="1400" b="1">
                <a:solidFill>
                  <a:srgbClr val="1A1A1A"/>
                </a:solidFill>
                <a:latin typeface="Calibri"/>
              </a:rPr>
              <a:t>diffusion samples</a:t>
            </a:r>
            <a:r>
              <a:rPr sz="1400" b="0">
                <a:solidFill>
                  <a:srgbClr val="1A1A1A"/>
                </a:solidFill>
                <a:latin typeface="Calibri"/>
              </a:rPr>
              <a:t> as imagined buildings, not just predictions. K=8 plausible completions per frontier decision.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We use </a:t>
            </a:r>
            <a:r>
              <a:rPr sz="1400" b="1">
                <a:solidFill>
                  <a:srgbClr val="1A1A1A"/>
                </a:solidFill>
                <a:latin typeface="Calibri"/>
              </a:rPr>
              <a:t>K-sample disagreement</a:t>
            </a:r>
            <a:r>
              <a:rPr sz="1400" b="0">
                <a:solidFill>
                  <a:srgbClr val="1A1A1A"/>
                </a:solidFill>
                <a:latin typeface="Calibri"/>
              </a:rPr>
              <a:t> as an upper-confidence-bound exploration signal — the variance is the feature, not noise to be averaged out.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1F6B47"/>
                </a:solidFill>
                <a:latin typeface="Calibri"/>
              </a:rPr>
              <a:t>•  </a:t>
            </a:r>
            <a:r>
              <a:rPr sz="1400" b="0">
                <a:solidFill>
                  <a:srgbClr val="1A1A1A"/>
                </a:solidFill>
                <a:latin typeface="Calibri"/>
              </a:rPr>
              <a:t>We isolate </a:t>
            </a:r>
            <a:r>
              <a:rPr sz="1400" b="1">
                <a:solidFill>
                  <a:srgbClr val="1A1A1A"/>
                </a:solidFill>
                <a:latin typeface="Calibri"/>
              </a:rPr>
              <a:t>where the wins come from</a:t>
            </a:r>
            <a:r>
              <a:rPr sz="1400" b="0">
                <a:solidFill>
                  <a:srgbClr val="1A1A1A"/>
                </a:solidFill>
                <a:latin typeface="Calibri"/>
              </a:rPr>
              <a:t> with a 4-baseline ablation (nearest / info-gain / info-gain + distance / ours), plus an out-of-domain control that proves the prior is doing real structural work.</a:t>
            </a:r>
          </a:p>
        </p:txBody>
      </p:sp>
      <p:pic>
        <p:nvPicPr>
          <p:cNvPr id="7" name="Picture 6" descr="slide07_K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645920"/>
            <a:ext cx="338328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1A1A1A"/>
                </a:solidFill>
                <a:latin typeface="Calibri"/>
              </a:rPr>
              <a:t>Hypothesis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29200"/>
            <a:ext cx="73152" cy="1463040"/>
          </a:xfrm>
          <a:prstGeom prst="rect">
            <a:avLst/>
          </a:prstGeom>
          <a:solidFill>
            <a:srgbClr val="1F6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29200"/>
            <a:ext cx="10972800" cy="1463040"/>
          </a:xfrm>
          <a:prstGeom prst="rect">
            <a:avLst/>
          </a:prstGeom>
          <a:noFill/>
        </p:spPr>
        <p:txBody>
          <a:bodyPr wrap="square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>
                <a:solidFill>
                  <a:srgbClr val="1A1A1A"/>
                </a:solidFill>
                <a:latin typeface="Calibri"/>
              </a:rPr>
              <a:t>A learned generative prior of building layouts gives a robot a measurable early-budget head start in frontier exploration </a:t>
            </a:r>
            <a:r>
              <a:rPr sz="1700" i="1">
                <a:solidFill>
                  <a:srgbClr val="1A1A1A"/>
                </a:solidFill>
                <a:latin typeface="Calibri"/>
              </a:rPr>
              <a:t>— but only when </a:t>
            </a:r>
            <a:r>
              <a:rPr sz="1700" b="1">
                <a:solidFill>
                  <a:srgbClr val="1A1A1A"/>
                </a:solidFill>
                <a:latin typeface="Calibri"/>
              </a:rPr>
              <a:t>(1) the training distribution matches deployment, (2) the step budget is tight, and (3) inference is fast enough to drive.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