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COSC 81/281  ·  FINAL PROJECT  · 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A1A1A"/>
                </a:solidFill>
                <a:latin typeface="Calibri"/>
              </a:rPr>
              <a:t>Diffusion-Guided
Frontier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69080"/>
            <a:ext cx="2011680" cy="73152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Calibri"/>
              </a:rPr>
              <a:t>Can a generative model of buildings help a robot decide where to drive
next — and just as importantly, when can it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Moin Mattar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Dartmouth  ·  June 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AI helped me in formatting and writing (HTML/CSS/LaTeX), as well as explained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468880"/>
            <a:ext cx="1371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1F6B47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54864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2468880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F6B47"/>
                </a:solidFill>
                <a:latin typeface="Calibri"/>
              </a:rPr>
              <a:t>Novelty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38404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Calibri"/>
              </a:rPr>
              <a:t>A robot at the door of a building it has never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Autonomous mapping of an unknown building, one frontier decision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Setup:</a:t>
            </a:r>
            <a:r>
              <a:rPr sz="1400" b="0">
                <a:solidFill>
                  <a:srgbClr val="1A1A1A"/>
                </a:solidFill>
                <a:latin typeface="Calibri"/>
              </a:rPr>
              <a:t> a robot is dropped at the door of a building it has never seen, with only a 2D lidar.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Input each step:</a:t>
            </a:r>
            <a:r>
              <a:rPr sz="1400" b="0">
                <a:solidFill>
                  <a:srgbClr val="1A1A1A"/>
                </a:solidFill>
                <a:latin typeface="Calibri"/>
              </a:rPr>
              <a:t> the partial occupancy grid the robot has accumulated.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Output each step:</a:t>
            </a:r>
            <a:r>
              <a:rPr sz="1400" b="0">
                <a:solidFill>
                  <a:srgbClr val="1A1A1A"/>
                </a:solidFill>
                <a:latin typeface="Calibri"/>
              </a:rPr>
              <a:t> the next frontier to drive to.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Assumption:</a:t>
            </a:r>
            <a:r>
              <a:rPr sz="1400" b="0">
                <a:solidFill>
                  <a:srgbClr val="1A1A1A"/>
                </a:solidFill>
                <a:latin typeface="Calibri"/>
              </a:rPr>
              <a:t> deployment environment shares structural distribution with training data.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What's broken:</a:t>
            </a:r>
            <a:r>
              <a:rPr sz="1400" b="0">
                <a:solidFill>
                  <a:srgbClr val="1A1A1A"/>
                </a:solidFill>
                <a:latin typeface="Calibri"/>
              </a:rPr>
              <a:t> classical frontier scoring is memoryless — it throws away the fact that real buildings have walls that run straight, hallways that connect rooms, doors that cluster.</a:t>
            </a:r>
          </a:p>
        </p:txBody>
      </p:sp>
      <p:pic>
        <p:nvPicPr>
          <p:cNvPr id="7" name="Picture 6" descr="15_behind_mind_map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0"/>
            <a:ext cx="402336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Novelty?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We treat </a:t>
            </a:r>
            <a:r>
              <a:rPr sz="1800" b="1">
                <a:solidFill>
                  <a:srgbClr val="1A1A1A"/>
                </a:solidFill>
                <a:latin typeface="Calibri"/>
              </a:rPr>
              <a:t>diffusion samples as imagined buildings</a:t>
            </a:r>
            <a:r>
              <a:rPr sz="1800" b="0">
                <a:solidFill>
                  <a:srgbClr val="1A1A1A"/>
                </a:solidFill>
                <a:latin typeface="Calibri"/>
              </a:rPr>
              <a:t>, not just predictions. K=8 plausible completions per frontier decision.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We use </a:t>
            </a:r>
            <a:r>
              <a:rPr sz="1800" b="1">
                <a:solidFill>
                  <a:srgbClr val="1A1A1A"/>
                </a:solidFill>
                <a:latin typeface="Calibri"/>
              </a:rPr>
              <a:t>K-sample disagreement as an upper-confidence-bound exploration signal</a:t>
            </a:r>
            <a:r>
              <a:rPr sz="1800" b="0">
                <a:solidFill>
                  <a:srgbClr val="1A1A1A"/>
                </a:solidFill>
                <a:latin typeface="Calibri"/>
              </a:rPr>
              <a:t> — the variance is the feature, not noise to average out.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6B47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We isolate </a:t>
            </a:r>
            <a:r>
              <a:rPr sz="1800" b="1">
                <a:solidFill>
                  <a:srgbClr val="1A1A1A"/>
                </a:solidFill>
                <a:latin typeface="Calibri"/>
              </a:rPr>
              <a:t>where the wins come from</a:t>
            </a:r>
            <a:r>
              <a:rPr sz="1800" b="0">
                <a:solidFill>
                  <a:srgbClr val="1A1A1A"/>
                </a:solidFill>
                <a:latin typeface="Calibri"/>
              </a:rPr>
              <a:t> with a 4-baseline ablation, plus an </a:t>
            </a:r>
            <a:r>
              <a:rPr sz="1800" b="1">
                <a:solidFill>
                  <a:srgbClr val="1A1A1A"/>
                </a:solidFill>
                <a:latin typeface="Calibri"/>
              </a:rPr>
              <a:t>out-of-domain control</a:t>
            </a:r>
            <a:r>
              <a:rPr sz="1800" b="0">
                <a:solidFill>
                  <a:srgbClr val="1A1A1A"/>
                </a:solidFill>
                <a:latin typeface="Calibri"/>
              </a:rPr>
              <a:t> that proves the prior is doing real structural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73152" cy="237744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315200" cy="237744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2000">
                <a:solidFill>
                  <a:srgbClr val="1A1A1A"/>
                </a:solidFill>
                <a:latin typeface="Calibri"/>
              </a:rPr>
              <a:t>A learned generative prior of building layouts gives a robot a measurable early-budget head start in frontier exploration </a:t>
            </a:r>
            <a:r>
              <a:rPr sz="2000" i="1">
                <a:solidFill>
                  <a:srgbClr val="1A1A1A"/>
                </a:solidFill>
                <a:latin typeface="Calibri"/>
              </a:rPr>
              <a:t>— but only when </a:t>
            </a:r>
            <a:r>
              <a:rPr sz="2000" b="1">
                <a:solidFill>
                  <a:srgbClr val="1A1A1A"/>
                </a:solidFill>
                <a:latin typeface="Calibri"/>
              </a:rPr>
              <a:t>(1) the training distribution matches deployment, (2) the step budget is tight, and (3) inference is fast enough to drive.</a:t>
            </a:r>
          </a:p>
        </p:txBody>
      </p:sp>
      <p:pic>
        <p:nvPicPr>
          <p:cNvPr id="7" name="Picture 6" descr="03_sample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77440"/>
            <a:ext cx="32918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468880"/>
            <a:ext cx="1371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1F6B47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54864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2468880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F6B47"/>
                </a:solidFill>
                <a:latin typeface="Calibri"/>
              </a:rPr>
              <a:t>Our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38404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  <a:latin typeface="Calibri"/>
              </a:rPr>
              <a:t>HouseExpo  →  Conditional U-Net (DDPM)  →  K-sample scoring  →  Frontier pick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End-to-End Pipeline I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1F6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97480" cy="9144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6B4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Data
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HouseExpo: 35,126 residential floor plans. Per plan, partial views + hidden remainders → 2.66M training pairs after augmentation.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D97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697480" cy="91440"/>
          </a:xfrm>
          <a:prstGeom prst="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03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9760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U-Net
+ DDPM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2976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Conditional U-Net, 4.16M params. MSE on noise. 29 epochs on T4 GPU. Loss 0.033 → 0.0007.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6974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03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4A01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K-Sample
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K=8 DDIM completions. Score = E[gain] + λ·Std[gain] − β·dist. Variance = UCB exploration bonus.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4F7F3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2697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017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ROS 2
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2976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ROS 2 node publishes /best_frontier. Exploration manager (from PA3) drives robot in Stage maze.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The Data — HouseExpo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Augmentation (4 rotations + flips) was the dominant lever for sample diversity.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926080" cy="457200"/>
          </a:xfrm>
          <a:prstGeom prst="rect">
            <a:avLst/>
          </a:prstGeom>
          <a:solidFill>
            <a:srgbClr val="1F6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20240"/>
            <a:ext cx="1371600" cy="457200"/>
          </a:xfrm>
          <a:prstGeom prst="rect">
            <a:avLst/>
          </a:prstGeom>
          <a:solidFill>
            <a:srgbClr val="1F6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920240"/>
            <a:ext cx="2377440" cy="457200"/>
          </a:xfrm>
          <a:prstGeom prst="rect">
            <a:avLst/>
          </a:prstGeom>
          <a:solidFill>
            <a:srgbClr val="1F6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Pairs after augmentation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920240"/>
            <a:ext cx="1554480" cy="457200"/>
          </a:xfrm>
          <a:prstGeom prst="rect">
            <a:avLst/>
          </a:prstGeom>
          <a:solidFill>
            <a:srgbClr val="1F6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01168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29260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HouseExpo (residential)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816352"/>
            <a:ext cx="1371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35,126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816352"/>
            <a:ext cx="23774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4688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2.66M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816352"/>
            <a:ext cx="15544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46888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73552"/>
            <a:ext cx="29260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Held-out HouseExpo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273552"/>
            <a:ext cx="1371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92608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273552"/>
            <a:ext cx="23774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9260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273552"/>
            <a:ext cx="15544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92608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30752"/>
            <a:ext cx="29260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Synthetic warehouse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30752"/>
            <a:ext cx="1371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38328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730752"/>
            <a:ext cx="23774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3832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small 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3730752"/>
            <a:ext cx="155448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338328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OOD control</a:t>
            </a:r>
          </a:p>
        </p:txBody>
      </p:sp>
      <p:pic>
        <p:nvPicPr>
          <p:cNvPr id="38" name="Picture 37" descr="01_sample_grid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11064240" cy="23774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Baseline Objective (DDPM)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Forward process: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1A1A1A"/>
                </a:solidFill>
                <a:latin typeface="Calibri"/>
              </a:rPr>
              <a:t>x_τ = √(α̅_τ) · x₀ + √(1 − α̅_τ) · ε,    ε ~ N(0, 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One-step objective: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1A1A1A"/>
                </a:solidFill>
                <a:latin typeface="Calibri"/>
              </a:rPr>
              <a:t>L_base = E [ ‖ε̂_θ(x_τ, τ, partial)  −  ε‖²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Conditioned on the </a:t>
            </a:r>
            <a:r>
              <a:rPr sz="1400" b="1">
                <a:solidFill>
                  <a:srgbClr val="1A1A1A"/>
                </a:solidFill>
                <a:latin typeface="Calibri"/>
              </a:rPr>
              <a:t>partial occupancy grid</a:t>
            </a:r>
            <a:r>
              <a:rPr sz="1400" b="0">
                <a:solidFill>
                  <a:srgbClr val="1A1A1A"/>
                </a:solidFill>
                <a:latin typeface="Calibri"/>
              </a:rPr>
              <a:t> + a </a:t>
            </a:r>
            <a:r>
              <a:rPr sz="1400" b="1">
                <a:solidFill>
                  <a:srgbClr val="1A1A1A"/>
                </a:solidFill>
                <a:latin typeface="Calibri"/>
              </a:rPr>
              <a:t>known-mask</a:t>
            </a:r>
            <a:r>
              <a:rPr sz="1400" b="0">
                <a:solidFill>
                  <a:srgbClr val="1A1A1A"/>
                </a:solidFill>
                <a:latin typeface="Calibri"/>
              </a:rPr>
              <a:t> channel.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Single-step denoising target — MSE on the noise added at step τ.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DDIM at inference: </a:t>
            </a:r>
            <a:r>
              <a:rPr sz="1400" b="1">
                <a:solidFill>
                  <a:srgbClr val="1A1A1A"/>
                </a:solidFill>
                <a:latin typeface="Calibri"/>
              </a:rPr>
              <a:t>30 steps</a:t>
            </a:r>
            <a:r>
              <a:rPr sz="1400" b="0">
                <a:solidFill>
                  <a:srgbClr val="1A1A1A"/>
                </a:solidFill>
                <a:latin typeface="Calibri"/>
              </a:rPr>
              <a:t>, K=8 samples per batched call (~2 s on T4).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Frontier Scoring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For each frontier cluster f, with K=8 imagined completions: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1">
                <a:solidFill>
                  <a:srgbClr val="1F6B47"/>
                </a:solidFill>
                <a:latin typeface="Calibri"/>
              </a:rPr>
              <a:t>score(f)  =  E_k[ G_k(f) ]  +  λ · Std_k[ G_k(f) ]  −  β · dist(robot, 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where G_k(f) = unknown cells inside frontier sensor footprint under completion 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Mean gain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how much the robot expects to discover at this frontier.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Variance bonus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UCB-style; the model's disagreement is the exploration signal.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Distance term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travel cost.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0">
                <a:solidFill>
                  <a:srgbClr val="1A1A1A"/>
                </a:solidFill>
                <a:latin typeface="Calibri"/>
              </a:rPr>
              <a:t>Pick the argmax. Move. Sense. Re-sample. Repeat.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Training Journey:  loss  0.033 → 0.0007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29 epochs on T4. Validation IoU averaged 0.66, best 0.77.</a:t>
            </a:r>
          </a:p>
        </p:txBody>
      </p:sp>
      <p:pic>
        <p:nvPicPr>
          <p:cNvPr id="6" name="Picture 5" descr="fi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2743200"/>
          </a:xfrm>
          <a:prstGeom prst="rect">
            <a:avLst/>
          </a:prstGeom>
        </p:spPr>
      </p:pic>
      <p:pic>
        <p:nvPicPr>
          <p:cNvPr id="7" name="Picture 6" descr="06_training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28800"/>
            <a:ext cx="47548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Sample quality at epochs 5/10/15/20/25 — the model wakes up.</a:t>
            </a:r>
          </a:p>
        </p:txBody>
      </p:sp>
      <p:pic>
        <p:nvPicPr>
          <p:cNvPr id="9" name="Picture 8" descr="03_sample_d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46320"/>
            <a:ext cx="1124712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K=8 DDIM samples per partial input — variance becomes the exploration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Now you tell me — where do the wins come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Four scorers, 30 HouseExpo maps, identical seeds.</a:t>
            </a:r>
          </a:p>
        </p:txBody>
      </p:sp>
      <p:pic>
        <p:nvPicPr>
          <p:cNvPr id="6" name="Picture 5" descr="12_4baselin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828800"/>
            <a:ext cx="73152" cy="128016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8745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B47"/>
                </a:solidFill>
                <a:latin typeface="Calibri"/>
              </a:rPr>
              <a:t>+3.5pp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68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DIFFUSION VS HEURISTIC AT STEP 4.
The learned prior on top of info-gain + distance.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32461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32918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  <a:latin typeface="Calibri"/>
              </a:rPr>
              <a:t>+17.5pp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886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INFO-GAIN VS NEAREST AT STEP 4.
Info-gain is doing most of the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663440"/>
            <a:ext cx="73152" cy="1280160"/>
          </a:xfrm>
          <a:prstGeom prst="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709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97606"/>
                </a:solidFill>
                <a:latin typeface="Calibri"/>
              </a:rPr>
              <a:t>~0pp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303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DISTANCE TERM CONTRIBUTION.
Decorative on HouseExpo.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Behind the mind — the loop made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behind_mind_map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Map 2638 — top: world + trail. Middle: partial map + frontiers. Bottom: K=4 imagined buildings with picked frontier circled. By step 4 the prior carries the robot to 95%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When the prior fails — and what realtime would buy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in_vs_oo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6692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0292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OOD ablation. Second U-Net trained on synthetic warehouses, evaluated on residential maps. Step-4 advantage drops from +3.5pp to −0.1pp. The prior is not a generic averaging trick.</a:t>
            </a:r>
          </a:p>
        </p:txBody>
      </p:sp>
      <p:pic>
        <p:nvPicPr>
          <p:cNvPr id="7" name="Picture 6" descr="11_2x2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949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292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Realtime upper bound. Re-sampling K=8 every 3 driving cells (the speed a distilled model could achieve) lifts in-domain advantage to +10.0pp. Prior contributes ~4pp; sampling frequency contributes ~7pp.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Hardships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Compute / infra: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Docker QEMU on Apple Silicon</a:t>
            </a:r>
            <a:r>
              <a:rPr sz="1400" b="0">
                <a:solidFill>
                  <a:srgbClr val="1A1A1A"/>
                </a:solidFill>
                <a:latin typeface="Calibri"/>
              </a:rPr>
              <a:t> too slow for live diffusion in Stage — switched to pre-computed waypoints.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AWS EC2 g4dn.xlarge</a:t>
            </a:r>
            <a:r>
              <a:rPr sz="1400" b="0">
                <a:solidFill>
                  <a:srgbClr val="1A1A1A"/>
                </a:solidFill>
                <a:latin typeface="Calibri"/>
              </a:rPr>
              <a:t> (T4 GPU) for training and inference experiments.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Batched K=8 sampling rewrite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3× speedup with no quality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Honest limits: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91C1C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Asymptotic coverage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baseline catches up by step 20.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B91C1C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Out-of-domain priors</a:t>
            </a:r>
            <a:r>
              <a:rPr sz="1400" b="0">
                <a:solidFill>
                  <a:srgbClr val="1A1A1A"/>
                </a:solidFill>
                <a:latin typeface="Calibri"/>
              </a:rPr>
              <a:t> give −0.1pp (the kill experiment).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B91C1C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2 / 30 hard failures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K-sample disagreement could flag these.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B91C1C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Live hardware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Stage works via pre-computed waypoints, not live inference.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DDPM (1000 steps), K=8:</a:t>
            </a:r>
            <a:r>
              <a:rPr sz="1700" b="0">
                <a:solidFill>
                  <a:srgbClr val="1A1A1A"/>
                </a:solidFill>
                <a:latin typeface="Calibri"/>
              </a:rPr>
              <a:t>     ~40 seconds on T4 — way too slow.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DDIM (30 steps), K=8:</a:t>
            </a:r>
            <a:r>
              <a:rPr sz="1700" b="0">
                <a:solidFill>
                  <a:srgbClr val="1A1A1A"/>
                </a:solidFill>
                <a:latin typeface="Calibri"/>
              </a:rPr>
              <a:t>         ~2 seconds (20× faster) — what I used for experiments.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DDIM (10 steps), K=4:</a:t>
            </a:r>
            <a:r>
              <a:rPr sz="1700" b="0">
                <a:solidFill>
                  <a:srgbClr val="1A1A1A"/>
                </a:solidFill>
                <a:latin typeface="Calibri"/>
              </a:rPr>
              <a:t>         ~500 ms (80× faster) — </a:t>
            </a:r>
            <a:r>
              <a:rPr sz="1700" b="1">
                <a:solidFill>
                  <a:srgbClr val="1A1A1A"/>
                </a:solidFill>
                <a:latin typeface="Calibri"/>
              </a:rPr>
              <a:t>realtime budget</a:t>
            </a:r>
            <a:r>
              <a:rPr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Distillation to Jetson would put </a:t>
            </a:r>
            <a:r>
              <a:rPr sz="1700" b="1">
                <a:solidFill>
                  <a:srgbClr val="1A1A1A"/>
                </a:solidFill>
                <a:latin typeface="Calibri"/>
              </a:rPr>
              <a:t>+10pp in-domain advantage</a:t>
            </a:r>
            <a:r>
              <a:rPr sz="1700" b="0">
                <a:solidFill>
                  <a:srgbClr val="1A1A1A"/>
                </a:solidFill>
                <a:latin typeface="Calibri"/>
              </a:rPr>
              <a:t> in reach for a real robot.</a:t>
            </a:r>
          </a:p>
        </p:txBody>
      </p:sp>
      <p:pic>
        <p:nvPicPr>
          <p:cNvPr id="6" name="Picture 5" descr="06b_latenc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10972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side_by_side_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Top: diffusion-guided.  Bottom: baseline heuristic.  Same map, same start, same lidar. Both reach high coverage — diffusion is consistently ahead in the early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What's Next?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Distillation</a:t>
            </a:r>
            <a:r>
              <a:rPr sz="1700" b="0">
                <a:solidFill>
                  <a:srgbClr val="1A1A1A"/>
                </a:solidFill>
                <a:latin typeface="Calibri"/>
              </a:rPr>
              <a:t> of the U-Net to Jetson for sub-second inference on a ROSbot.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Richer training domains</a:t>
            </a:r>
            <a:r>
              <a:rPr sz="1700" b="0">
                <a:solidFill>
                  <a:srgbClr val="1A1A1A"/>
                </a:solidFill>
                <a:latin typeface="Calibri"/>
              </a:rPr>
              <a:t> — Gibson, Matterport, real BIM data — for cross-environment generalisation.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K-sample disagreement</a:t>
            </a:r>
            <a:r>
              <a:rPr sz="1700" b="0">
                <a:solidFill>
                  <a:srgbClr val="1A1A1A"/>
                </a:solidFill>
                <a:latin typeface="Calibri"/>
              </a:rPr>
              <a:t> as an "I don't know" flag — fall back to heuristic on hard maps.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Diffusion Forcing for maps</a:t>
            </a:r>
            <a:r>
              <a:rPr sz="1700" b="0">
                <a:solidFill>
                  <a:srgbClr val="1A1A1A"/>
                </a:solidFill>
                <a:latin typeface="Calibri"/>
              </a:rPr>
              <a:t> — sequential prediction over multiple exploration timesteps.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6B47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Live ROSbot deployment</a:t>
            </a:r>
            <a:r>
              <a:rPr sz="1700" b="0">
                <a:solidFill>
                  <a:srgbClr val="1A1A1A"/>
                </a:solidFill>
                <a:latin typeface="Calibri"/>
              </a:rPr>
              <a:t> in a matched-distribution building (residential / hospital / warehouse).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alibri"/>
              </a:rPr>
              <a:t>Thanks for your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1">
                <a:solidFill>
                  <a:srgbClr val="1F6B47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Moin Mattar  ·  COSC 81/281  ·  June 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AI helped me in formatting and writing (HTML/CSS/LaTeX), as well as explained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